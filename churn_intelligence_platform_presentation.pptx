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-914400"/>
            <a:ext cx="5486400" cy="54864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2560320" cy="320040"/>
          </a:xfrm>
          <a:prstGeom prst="roundRect">
            <a:avLst>
              <a:gd name="adj" fmla="val 42857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M2 Data Engineering • EFREI Paris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Multi-Modèles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Rétention Client et l'Évaluation du Risque de Revenus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3200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49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Angélique WAHBA &amp; Marie WAHBA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n°7 • Sujet 2 • 07 mai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présentation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50292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la solution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5029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92608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Preprocessing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886200"/>
            <a:ext cx="5029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862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&amp; Résultats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05840"/>
            <a:ext cx="5029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10058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 (SHAP)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9659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965960"/>
            <a:ext cx="50292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9659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196596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API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9260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926080"/>
            <a:ext cx="5029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26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292608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(Trello)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388620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886200"/>
            <a:ext cx="5029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8862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388620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Démo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Contexte &amp; Problématique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560320" cy="1371600"/>
          </a:xfrm>
          <a:prstGeom prst="rect">
            <a:avLst/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60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×5 à ×7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le coût d'acquérir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un nouveau 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vs fidéliser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2560320" cy="1371600"/>
          </a:xfrm>
          <a:prstGeom prst="rect">
            <a:avLst/>
          </a:prstGeom>
          <a:solidFill>
            <a:srgbClr val="0891B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468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10.2%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de clients churners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dans notre dataset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(déséquilibre classes)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55778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005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Problématique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anticiper le départ d'un client SaaS 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qu'il résilie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 transformer cette prédiction en actions de rétention concrètes 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194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Notre réponse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5146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IA complète 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modèles ML/DL comparés  •  Dashboard décisionnel temps réel  •  API REST déployable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37560" y="3246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Dataset : 10 000 clients × 32 variables — Kaggle Customer Churn Prediction Business Dataset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01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Architecture de la solution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280160" cy="2560320"/>
          </a:xfrm>
          <a:prstGeom prst="rect">
            <a:avLst/>
          </a:prstGeom>
          <a:solidFill>
            <a:srgbClr val="0891B2">
              <a:alpha val="85000"/>
            </a:srgbClr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325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Raw CSV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72768" y="2468880"/>
            <a:ext cx="16459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4208" y="23500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55648" y="1188720"/>
            <a:ext cx="1280160" cy="2560320"/>
          </a:xfrm>
          <a:prstGeom prst="rect">
            <a:avLst/>
          </a:prstGeom>
          <a:solidFill>
            <a:srgbClr val="2563EB">
              <a:alpha val="85000"/>
            </a:srgbClr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55648" y="1325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55648" y="1920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EDA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54096" y="2468880"/>
            <a:ext cx="16459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23500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36976" y="1188720"/>
            <a:ext cx="1280160" cy="2560320"/>
          </a:xfrm>
          <a:prstGeom prst="rect">
            <a:avLst/>
          </a:prstGeom>
          <a:solidFill>
            <a:srgbClr val="7C3AED">
              <a:alpha val="85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36976" y="1325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36976" y="1920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Modèles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 + DL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35424" y="2468880"/>
            <a:ext cx="16459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23500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18304" y="1188720"/>
            <a:ext cx="1280160" cy="2560320"/>
          </a:xfrm>
          <a:prstGeom prst="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18304" y="1325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718304" y="1920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Évaluation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SHAP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16752" y="2468880"/>
            <a:ext cx="16459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23500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99632" y="1188720"/>
            <a:ext cx="1280160" cy="2560320"/>
          </a:xfrm>
          <a:prstGeom prst="rect">
            <a:avLst/>
          </a:prstGeom>
          <a:solidFill>
            <a:srgbClr val="10B981">
              <a:alpha val="85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99632" y="1325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99632" y="1920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0" y="2468880"/>
            <a:ext cx="16459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23500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0" y="1188720"/>
            <a:ext cx="1280160" cy="2560320"/>
          </a:xfrm>
          <a:prstGeom prst="rect">
            <a:avLst/>
          </a:prstGeom>
          <a:solidFill>
            <a:srgbClr val="EF4444">
              <a:alpha val="85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80960" y="1325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680960" y="1920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Livrables associés 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notebooks/01_eda.ipynb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55648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notebooks/02_models.ipynb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36976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src/preprocessing.py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18304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models/*.pkl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99632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dashboard/app.py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680960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api/main.py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Données &amp; Preprocessing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64008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Analyse exploratoire (EDA)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: 89.8% / 10.2% → métriques F1 + ROC-AUC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variable manquante : complaint_type (20%) → imputée 'No_complaint'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faibles (max 0.16) → relations non-linéaires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prédicteurs : csat_score, tenure_months, payment_failures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Feature Engineering (3 nouvelles variables)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login_per_month = logins / (tenure + 1)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payment_risk = failures × monthly_fee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recency_risk = last_login / (session_time + 1)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64008" cy="3474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Pipeline Preprocessing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463040"/>
            <a:ext cx="73152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4813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1. Nettoyage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17190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Suppression customer_id, city, country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Imputation complaint_type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212848"/>
            <a:ext cx="73152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23113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2. Encodage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4688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One-Hot Encoding (9 variables)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drop_first=True → 38 features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962656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9809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3. Split stratifié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32186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80% train / 20%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stratify=y → 10.2% churn préservé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3712464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7307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4. Normalisation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39684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StandardScaler fit sur train seul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Évite le data leakage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Modélisation &amp; Résultats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199339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14400"/>
            <a:ext cx="199339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Régression Logistique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Baseline ML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ROC-AUC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0.751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F1-Score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0.306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Recall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0.672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130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Meilleur Recall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914400"/>
            <a:ext cx="199339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914400"/>
            <a:ext cx="1993392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9601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 Forest 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137160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Ensemble ML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16916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ROC-AUC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4600" y="1874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0.791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514600" y="228600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F1-Score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14600" y="246888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0.332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514600" y="28346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Recall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14600" y="299923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0.412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697480" y="3794760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38130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Meilleur ROC-AUC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914400"/>
            <a:ext cx="199339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914400"/>
            <a:ext cx="1993392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9601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137160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Gradient Boosting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16916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ROC-AUC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1874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0.773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663440" y="228600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F1-Score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246888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0.336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63440" y="28346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Recall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299923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0.456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846320" y="3794760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8130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Bon compromis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914400"/>
            <a:ext cx="199339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914400"/>
            <a:ext cx="199339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9601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12280" y="137160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Deep Learning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12280" y="16916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ROC-AUC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12280" y="1874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0.755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812280" y="228600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F1-Score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12280" y="246888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0.346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812280" y="28346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Recall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12280" y="299923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0.628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995160" y="3794760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5160" y="38130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Meilleur F1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" y="4160520"/>
            <a:ext cx="8503920" cy="658368"/>
          </a:xfrm>
          <a:prstGeom prst="rect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recommandé : </a:t>
            </a:r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Meilleur ROC-AUC (0.791) + stabilité + interprétabilité native. </a:t>
            </a:r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class_weight='balanced'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scale_pos_weight pour gérer le déséquilibre 90/10.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Interprétabilité (SHAP)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csat_score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560320" y="1005840"/>
            <a:ext cx="411480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0" y="10058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0.159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Satisfaction → 1er signal churn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tenure_months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783080"/>
            <a:ext cx="28803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0.111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1737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Ancienneté → client fragile si récent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login_per_month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2560320"/>
            <a:ext cx="2221992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2560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0.086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2514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Engagement normalisé (feature engineerée)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monthly_logins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3337560"/>
            <a:ext cx="2180844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2604" y="33375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0.084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Fréquence connexions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payment_failures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4114800"/>
            <a:ext cx="176936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1124" y="4114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0.069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Échecs paiement → signal critique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SHAP TreeExplainer sur XGBoost —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Beeswarm : csat élevé (rouge) à gauche = réduit le churn • payment_failures élevé à droite = augmente le churn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Dashboard Streamlit &amp; API FastAPI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199339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68680"/>
            <a:ext cx="19933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869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🏠 Vue d'ensemble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: clients à risque,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mensuel menacé,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clients à contacter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199339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68880" y="868680"/>
            <a:ext cx="1993392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8869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📈 Performance modèles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0" y="13716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ROC interactives,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 live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868680"/>
            <a:ext cx="199339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868680"/>
            <a:ext cx="1993392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8869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🔍 Interprétabilité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13716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Plotly,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 + beeswarm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calculés à la demande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868680"/>
            <a:ext cx="199339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868680"/>
            <a:ext cx="199339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8869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🎯 Prédiction client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13716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via sliders,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jauge de risque temps réel,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CRM auto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8503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57600"/>
            <a:ext cx="64008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⚡ API REST FastAPI — Points Bonus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502920" cy="256032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33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51560" y="4133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51560" y="43708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État du service + modèles chargés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4114800"/>
            <a:ext cx="502920" cy="256032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133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86200" y="4133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/model-info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86200" y="43708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Performances comparatives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4114800"/>
            <a:ext cx="502920" cy="256032"/>
          </a:xfrm>
          <a:prstGeom prst="roundRect">
            <a:avLst>
              <a:gd name="adj" fmla="val 3571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4133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20840" y="4133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20840" y="43708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Prédiction + probabilité + recommandations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3749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Swagger UI auto-généré → http://localhost:8000/docs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Gestion de projet &amp; Collaboration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5029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68680"/>
            <a:ext cx="64008" cy="397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Tableau Trello — Kanban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1508760" cy="329184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📋 Backlog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4632" y="1810512"/>
            <a:ext cx="13624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" y="185623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projet &amp; venv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" y="2496312"/>
            <a:ext cx="13624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54203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dataset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" y="3182112"/>
            <a:ext cx="13624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322783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rapport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" y="3867912"/>
            <a:ext cx="13624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" y="391363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slides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29968" y="1371600"/>
            <a:ext cx="1508760" cy="329184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1417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🔄 En cours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03120" y="1810512"/>
            <a:ext cx="13624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48840" y="185623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2496312"/>
            <a:ext cx="13624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48840" y="254203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3182112"/>
            <a:ext cx="13624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148840" y="322783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48456" y="1371600"/>
            <a:ext cx="1508760" cy="329184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94176" y="1417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✅ Terminé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21608" y="1810512"/>
            <a:ext cx="13624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67328" y="185623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21608" y="2496312"/>
            <a:ext cx="13624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67328" y="254203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 entraînés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21608" y="3182112"/>
            <a:ext cx="13624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767328" y="322783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interprétabilité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21608" y="3867912"/>
            <a:ext cx="13624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67328" y="391363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GitHub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32120" y="868680"/>
            <a:ext cx="32918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32120" y="868680"/>
            <a:ext cx="64008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960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Git &amp; Versioning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15000" y="132588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GitHub public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réguliers &amp; explicites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feature / main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final avant soutenance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32120" y="2834640"/>
            <a:ext cx="3291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32120" y="2834640"/>
            <a:ext cx="64008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Répartition des tâches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15000" y="3337560"/>
            <a:ext cx="822960" cy="256032"/>
          </a:xfrm>
          <a:prstGeom prst="roundRect">
            <a:avLst>
              <a:gd name="adj" fmla="val 35714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33558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Angélique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58368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EDA, Preprocessing, Modélisation ML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15000" y="3840480"/>
            <a:ext cx="822960" cy="256032"/>
          </a:xfrm>
          <a:prstGeom prst="roundRect">
            <a:avLst>
              <a:gd name="adj" fmla="val 35714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38587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Marie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58368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Dashboard, API, Rapport &amp; Présentation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15000" y="4343400"/>
            <a:ext cx="822960" cy="256032"/>
          </a:xfrm>
          <a:prstGeom prst="roundRect">
            <a:avLst>
              <a:gd name="adj" fmla="val 35714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43616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Ensemble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58368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Deep Learning MLP, SHAP, Git review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Conclusion &amp; Perspectives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20240" cy="1188720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modèles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comparés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822960"/>
            <a:ext cx="1920240" cy="118872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868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0.791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42032" y="1481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ROC-AUC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18304" y="822960"/>
            <a:ext cx="1920240" cy="11887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868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38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18304" y="1481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après encodage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94576" y="822960"/>
            <a:ext cx="1920240" cy="118872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94576" y="868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94576" y="1481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endpoints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API REST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194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Ce que nous livrons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60604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structuré (6 modules)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notebooks documentés (EDA + Modèles)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4 pages interactif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avec Swagger auto-généré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académique complet (11 sections)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0" y="2194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Perspectives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60604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pour rééquilibrer les classes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pour l'optimisation hyperparamètres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 (AWS EC2 / Cloud Run)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drift avec Evidently AI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45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Merci pour votre attention — Prêtes pour la démonstration live 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873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 Intelligence Platform</dc:title>
  <dc:subject>PptxGenJS Presentation</dc:subject>
  <dc:creator>PptxGenJS</dc:creator>
  <cp:lastModifiedBy>PptxGenJS</cp:lastModifiedBy>
  <cp:revision>1</cp:revision>
  <dcterms:created xsi:type="dcterms:W3CDTF">2026-05-06T08:18:18Z</dcterms:created>
  <dcterms:modified xsi:type="dcterms:W3CDTF">2026-05-06T08:18:18Z</dcterms:modified>
</cp:coreProperties>
</file>